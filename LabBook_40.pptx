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9" r:id="rId3"/>
    <p:sldId id="290" r:id="rId4"/>
    <p:sldId id="291" r:id="rId5"/>
    <p:sldId id="296" r:id="rId6"/>
    <p:sldId id="297" r:id="rId7"/>
    <p:sldId id="298" r:id="rId8"/>
    <p:sldId id="292" r:id="rId9"/>
    <p:sldId id="293" r:id="rId10"/>
    <p:sldId id="299" r:id="rId11"/>
    <p:sldId id="300" r:id="rId12"/>
    <p:sldId id="301" r:id="rId13"/>
    <p:sldId id="294" r:id="rId14"/>
    <p:sldId id="302" r:id="rId15"/>
    <p:sldId id="295" r:id="rId16"/>
    <p:sldId id="303" r:id="rId17"/>
    <p:sldId id="304" r:id="rId18"/>
    <p:sldId id="288" r:id="rId1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21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30/05/2026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30/05/2026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7AEC-015A-4808-9AC9-382D824E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C03EDA-741F-B6F5-3444-A8D74D690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839219-55CF-753A-3C53-04F6B1E28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B99BF-32CC-B000-CB3E-0CD66FF7C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642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304CD-7D47-5C82-4965-13FF95CF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E59B7D-40D9-9C42-3E09-C183B3EF7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6117AB-3296-D40C-DAD5-D0B0BDD7F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AC784E-374C-986B-73E6-B2D30B03C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9724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7627-F3D9-FF29-2798-CA40E887F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FC836E-A20C-9664-E4B4-C40DD7F0D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9DA8F4-2BDE-630B-C033-810FEB9E9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6D3683-73C7-6E04-245F-5B896995D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1782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2F541-E4F7-3A53-4568-D2053583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173A0E-BA80-A4C5-BB0C-B3188A5EE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411791-9AF7-6C3B-475F-D75F79DBA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74D1BA-AD17-8BE7-4070-8F58971DE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769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BF37-98F6-CD9B-2255-0A64B5CE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68927E-2442-0553-FBC8-D3C32BCC5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130D77-4D33-EE41-3A9E-4EB6D241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BAC07D-EBC4-F68A-7BE7-2B2DCCECD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431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88B3-C141-4645-2F2A-A09F4082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22BAD8-B0CC-3164-3027-A210D7EB7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995D4B-1202-927A-28C9-66F35C33A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6FFEE-1184-FFA2-1E7F-CC9E8439A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9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F55F-3C76-5338-16B0-6C0A9E96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194D5D-79B6-CBB5-D18C-CF61E8323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F35DBF-E9FF-B55A-389E-46FFD5A66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C659A7-AC8D-CA25-4545-4B4B5A4F0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1671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3AE3-952F-BF7A-94F9-9E8192BD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13FBFE-96C6-E4D9-C6A0-172F1C91A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1EBB6E-F19B-92E5-1638-ACD601197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728B6C-0727-3B48-59F6-471069979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6803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2600-BEDA-FBEF-7666-945E612D0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B49B06-B2BA-4F33-0B47-B3CB42EE0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D3BAF0-03D1-4DB8-4466-6100AFA71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F5E3DA-E31F-61CE-DE4C-092381F1F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3576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EAE7-9EAB-544B-26F0-D89AD57C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42DDC-39F3-B8EF-C550-B1BDBF798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4E7676-8E00-A60E-B890-D4F612C9A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8AAF8C-62CF-3619-1C70-91E48BE9A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104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3AEA-24AE-A3AF-EF79-583E028B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888C2A-96A0-A6CF-CA49-2BD44F2A2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67CC94-C982-84F0-5E70-384604FF6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FF7B52-E042-7A26-8B77-B1619BB66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7769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69CA-A6E9-D0C3-4D3A-6AF90891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C97DB9-2632-3700-0312-BB76DC46D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897758-8CC0-1479-13D7-87B5FBD74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60DEFB-1A44-3354-5B15-298FF8A10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459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7B4A-8792-6E23-1CD7-7D7F1611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3DEB94-D97A-67FB-3B2C-A3067DE3A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B1D7C0-2AA0-4DC9-6FE4-430D55A3B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0D1D43-F52E-512E-4522-F51B0AB1D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6905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9C0D2-1557-7B87-B754-77B0CB63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AA8638-8A6F-2F41-EFB1-5973C5D0A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DD043-6FA1-C2EC-827C-C2BEE1492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BAD645-A20D-DF89-8E15-DE1C12345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1136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4.0. LAYOUT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scualmunoz/cifoin-lab4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3.0 Circuits and Compact </a:t>
            </a:r>
            <a:r>
              <a:rPr lang="es-ES" sz="3200" b="1" dirty="0" err="1">
                <a:latin typeface="Lucida Sans"/>
                <a:cs typeface="Lucida Sans"/>
              </a:rPr>
              <a:t>Models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https://github.com/pascualmunoz/cifoin-lab4.git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folder / repo in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terminal: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uv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 sync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LAYOUT_STUDENT.ipynb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kern="0" dirty="0">
              <a:solidFill>
                <a:sysClr val="windowText" lastClr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LO1: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LO2: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LO3: 1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LO4: 3 points</a:t>
            </a:r>
          </a:p>
          <a:p>
            <a:pPr algn="just"/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#1a – Notebook section 1. Technology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s-ES" b="0" i="1" spc="-5" dirty="0">
                <a:latin typeface="+mj-lt"/>
              </a:rPr>
              <a:t>“</a:t>
            </a:r>
            <a:r>
              <a:rPr lang="es-ES" b="0" i="1" spc="-5" dirty="0" err="1">
                <a:latin typeface="+mj-lt"/>
              </a:rPr>
              <a:t>We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will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work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with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demo UPVfab PDK. </a:t>
            </a:r>
            <a:r>
              <a:rPr lang="es-ES" b="0" i="1" spc="-5" dirty="0" err="1">
                <a:latin typeface="+mj-lt"/>
                <a:cs typeface="Lucida Sans"/>
              </a:rPr>
              <a:t>Let's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view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layer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distribution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of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this</a:t>
            </a:r>
            <a:r>
              <a:rPr lang="es-ES" b="0" i="1" spc="-5" dirty="0">
                <a:latin typeface="+mj-lt"/>
                <a:cs typeface="Lucida Sans"/>
              </a:rPr>
              <a:t> PDK”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216570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PDK is Process Design Kit, it 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the files and rules from the factory to help us design the photonics chip.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 general, the layers for layout in a PDK represent the physical masks and materials that the factory use to build the chip step by step.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our particular PDK we find the following layers, with number and label/description: WG is 1 / 0, HEATER is 4 / 0, SLAB is 21 / 0, PAD is 41 / 0, FLOORPLAN is 99 / 0, LABEL_SETTINGS is 100 / 0, and LABEL_INSTANCE is 101 / 0. Also the notebook say we only use Layer 1 for the passive devices.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609441" y="1418373"/>
            <a:ext cx="5332571" cy="26202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4B9AF7-5B09-CE7C-68D9-8620B8F4F607}"/>
              </a:ext>
            </a:extLst>
          </p:cNvPr>
          <p:cNvSpPr txBox="1"/>
          <p:nvPr/>
        </p:nvSpPr>
        <p:spPr>
          <a:xfrm>
            <a:off x="763342" y="2494306"/>
            <a:ext cx="502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Paste code to view the layer distribution of this PDK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EC3D78-C227-4F8E-7F5D-F398FB043D20}"/>
              </a:ext>
            </a:extLst>
          </p:cNvPr>
          <p:cNvSpPr/>
          <p:nvPr/>
        </p:nvSpPr>
        <p:spPr>
          <a:xfrm>
            <a:off x="6476841" y="1420406"/>
            <a:ext cx="5332571" cy="2554842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5806D5A-9C65-5DDA-AF7C-30CC28E9C38F}"/>
              </a:ext>
            </a:extLst>
          </p:cNvPr>
          <p:cNvSpPr txBox="1"/>
          <p:nvPr/>
        </p:nvSpPr>
        <p:spPr>
          <a:xfrm>
            <a:off x="7925522" y="2496339"/>
            <a:ext cx="243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Paste </a:t>
            </a:r>
            <a:r>
              <a:rPr lang="es-ES" dirty="0" err="1"/>
              <a:t>plot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layers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9F5A2CE-A0C3-DB0C-52D0-A58BEB8CA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48" y="2200983"/>
            <a:ext cx="4738555" cy="1518934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60D7212A-AB54-3354-30AD-4DBBB2637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418373"/>
            <a:ext cx="3358041" cy="253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1758-3D0C-3510-194A-4075C73D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the directional coupler designed in Lab 2. It was optimized for a 50:50 power split. The gap between the waveguides is 0.6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m, and the waveguide width is 1.2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m. The total coupling length for a 50% split is around 46.92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24819-75AC-EB82-A160-7A3DE5BF0740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877566-4E2F-8CE5-3749-EB4B91552614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4060692-6BC7-32EB-FD9F-A6DBD6AC6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64" y="1698026"/>
            <a:ext cx="5132324" cy="1592559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174EEA0-BA06-A3B3-F19F-001CC7122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605" y="1444606"/>
            <a:ext cx="4267041" cy="322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2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6821-AD5F-11E0-3635-EF371B59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500F1FB-50A9-7098-F712-C9D0A8EA4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24BDAF-EE61-E5F9-02B4-5ECD4A14E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517B850-28C0-66DF-69CC-D7861D00DE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DBE82-92E1-BFF1-8690-D441A8EE5C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FC10F3A-462E-8946-A644-37EC980FC923}"/>
              </a:ext>
            </a:extLst>
          </p:cNvPr>
          <p:cNvSpPr txBox="1"/>
          <p:nvPr/>
        </p:nvSpPr>
        <p:spPr>
          <a:xfrm>
            <a:off x="609441" y="4860334"/>
            <a:ext cx="1119997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the 2x2 MMI coupler designed in Lab 2. The multimode body width (W_MMI) is 6.6 um, and the optimized body length (L_MMI) is around 34.52 um. After optimizing the input and output waveguide widths, the coupler achieved very low excess loss (around 0.08 dB).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82126C-F640-E177-7186-7FD3BB19B1B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7B905B-45E3-8ED0-6CA1-8E553F644F05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E7DD7C-8C37-A57E-A585-90D0A8F43065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37CD1F-5680-CE46-9696-AC50C9FEF1BC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DFF30F2-557B-3F99-9681-FCBB849FC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641" y="1496876"/>
            <a:ext cx="4019016" cy="3033963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AE62D1BF-B138-A7D7-E58E-D411B3386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77" y="1572230"/>
            <a:ext cx="4716450" cy="225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8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57B6-9F1C-4CE7-4AE0-D1C21847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EA72665-3A37-F271-0CF8-EDB086248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745F56B-E3AE-0EF5-E33C-D7A1326FD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5C3066A-7A6E-6B19-F70F-CDB6D7E873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85CD36-5A5D-EBB8-EF2E-FC349DA1D84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8F5AF0-75FD-A002-BA98-4BA6E5BD66B4}"/>
              </a:ext>
            </a:extLst>
          </p:cNvPr>
          <p:cNvSpPr txBox="1"/>
          <p:nvPr/>
        </p:nvSpPr>
        <p:spPr>
          <a:xfrm>
            <a:off x="609441" y="4860334"/>
            <a:ext cx="1119997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the unbalanced Mach-Zehnder Interferometer (MZI) studied in Lab 3. It was designed to get a Free Spectral Range (FSR) of 2 nm. According to the calculations, the required path length difference between the arms (dL) is exactly 286 um. MMI couplers were used to split and combine the signals.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B2A3EFB-C4AB-A609-A0AC-51DDE54B045D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888256-43BA-8271-12CA-2F79F172FE92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AE3932-2597-33BC-E48E-9C3D6E333B19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E0B18E-9F43-AC6F-E669-02C5A5E086D4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543AA04C-C93D-13E5-DC03-161F28C43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445" y="1519550"/>
            <a:ext cx="3942565" cy="2976250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B32604D3-DE1D-1284-52CE-430DAC2CD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19" y="1701757"/>
            <a:ext cx="4907019" cy="230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8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6C41-64FB-6B7C-9416-F35F6D6F9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0BA53D8-3617-B5E6-B7DF-16AAAA7C75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5CCCACC-A902-2583-E2AF-2FA28B8F1C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80AD7CE-B720-F9EE-070B-64FABB8C53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04BECB-2E5D-AF05-63E2-F4A337752F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9B0555-78BB-6197-C67A-ABCAD6FB3E59}"/>
              </a:ext>
            </a:extLst>
          </p:cNvPr>
          <p:cNvSpPr txBox="1"/>
          <p:nvPr/>
        </p:nvSpPr>
        <p:spPr>
          <a:xfrm>
            <a:off x="609441" y="4860334"/>
            <a:ext cx="1119997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the ring resonator designed in Lab 3. The parameters were chosen to achieve a Free Spectral Range (FSR) of 15 nm. Based on theoretical formulas, the total circumference was calculated to be 80.08 um, which gives a ring radius of about 12.75 um.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730C7A1-2EC5-78A3-612D-B1597E8C2FA0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8881ED-6BE8-74EC-4228-03314D7009AD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BE82532-77C9-292C-C89D-AAF78583EDBC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E74654-BD09-B53B-8F30-194B2F9EEA5B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58B8A29-0D04-9ABC-3732-439B72068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73" y="1742471"/>
            <a:ext cx="4686706" cy="2735817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B1D7CCAA-D7E7-E5AC-7327-EC9CF46B9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606" y="1619306"/>
            <a:ext cx="3833993" cy="289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0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B0A8-BCE1-AF65-5AFA-79184BED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DCA2EEE-70B8-D049-D7BD-B54DCCF32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#2a – Notebook section 2. Layout Fundamentals</a:t>
            </a:r>
            <a:br>
              <a:rPr lang="en-US" sz="2500" dirty="0"/>
            </a:br>
            <a:r>
              <a:rPr lang="en-US" sz="1800" b="0" i="1" dirty="0"/>
              <a:t>“Once that we have a working 'new' component, we shall convert it into a Cell. This will allow us to have a hierarchical design”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DB8C9DA-7093-6464-A7C1-20B2A585A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102C027-A211-C670-7EF5-D7A4650EE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B5A66E-75F8-8688-0D68-26E0DDB3A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C0B36B-B4BD-C242-E1BB-26DD7AC56DB0}"/>
              </a:ext>
            </a:extLst>
          </p:cNvPr>
          <p:cNvSpPr txBox="1"/>
          <p:nvPr/>
        </p:nvSpPr>
        <p:spPr>
          <a:xfrm>
            <a:off x="609441" y="4860334"/>
            <a:ext cx="1119997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the die layout exactly as provided in the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nootebook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It creates a chip with a 250 um border for dicing. The @gf.cell decorator turns this entire layout into a reusable component so I can use it as the main floorplan for my photonic circuits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9364F4-A34A-5161-07CB-E12F9FFCB400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A2AA3F-CE55-C50B-CB18-2C8D2061FDB9}"/>
              </a:ext>
            </a:extLst>
          </p:cNvPr>
          <p:cNvSpPr txBox="1"/>
          <p:nvPr/>
        </p:nvSpPr>
        <p:spPr>
          <a:xfrm>
            <a:off x="1531412" y="2494306"/>
            <a:ext cx="3488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Example code for</a:t>
            </a:r>
          </a:p>
          <a:p>
            <a:pPr algn="ctr"/>
            <a:r>
              <a:rPr lang="en-US" dirty="0"/>
              <a:t>“A die (chip) for a photonic layout”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FC788C-53E2-83E7-3D9E-EBD582171C71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44A1ED-9D94-1354-DB46-756E574E2C7E}"/>
              </a:ext>
            </a:extLst>
          </p:cNvPr>
          <p:cNvSpPr txBox="1"/>
          <p:nvPr/>
        </p:nvSpPr>
        <p:spPr>
          <a:xfrm>
            <a:off x="8483018" y="2496339"/>
            <a:ext cx="1320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Example</a:t>
            </a:r>
            <a:r>
              <a:rPr lang="es-ES" dirty="0"/>
              <a:t> die</a:t>
            </a:r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0F5EA30F-6825-B308-C41B-66442C97E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28" y="1485393"/>
            <a:ext cx="5076171" cy="1957579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3B5AE2FD-30A2-7200-E779-58C81FC3A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605" y="1460788"/>
            <a:ext cx="4267041" cy="322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4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281E-4B83-CADF-E05C-2779A19E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E0254F2-3F36-2B82-F469-33464298D91B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39E3F89-DDDB-F89E-C7DF-F9A9B6A84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270" y="1627309"/>
            <a:ext cx="4773311" cy="3603382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3B9ADE48-6244-19FC-CE3B-1000DADFC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05" y="1627309"/>
            <a:ext cx="4945127" cy="151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02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D440-5AFD-3972-0703-1F1AE842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54ECED5-B092-886B-983B-D3E4FDA84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0529180-6617-D9DF-35AD-1747DD716D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6471A4A-7289-25D1-F9C7-CF86836763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14F346-8AB4-F3F0-2CF9-88691BBB1B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A1AEFAB-3B43-F0D5-6C62-054CEDB74079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8494760-03A2-FEAB-2E04-C2ED235EC1B9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0CF172-EAC3-C51C-30B7-732D719DFD25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0CC75E-5065-071A-268C-0C7539DEE0C8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E769BB5-BF7A-E002-51A1-11FCC2AD0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27" y="1943206"/>
            <a:ext cx="5128579" cy="1098981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BF51070E-D498-3CDF-14C3-BED56237A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843" y="1676400"/>
            <a:ext cx="5081781" cy="383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3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40103-24D4-7507-8162-96996B57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69F37D9-5BCC-5EB0-01D0-055F1718A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6BA4010-854A-A74A-C668-FD973F795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FE297FC-19B0-0C1D-D77F-3157FCC2E3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52E2D2-6F89-776C-E128-D86705E1D6C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25DF40A-A792-1FB0-21AA-87EE19A4BB10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7EF39F-8292-11B1-EFDD-A822815566DB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F8BA1F-D18D-C6EA-0003-302858DA7031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AAE6D5-05E3-F3B2-2031-F970F9366963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33F4C59-4FEA-025B-1166-A3914DF06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04343"/>
            <a:ext cx="4774263" cy="2686657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C5893DB6-2D13-180F-E738-C97B5AE67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180" y="1467338"/>
            <a:ext cx="4899701" cy="3698794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3C5981E-5629-FA65-665F-FF9D0D0A0801}"/>
              </a:ext>
            </a:extLst>
          </p:cNvPr>
          <p:cNvSpPr txBox="1"/>
          <p:nvPr/>
        </p:nvSpPr>
        <p:spPr>
          <a:xfrm>
            <a:off x="7190448" y="5338297"/>
            <a:ext cx="2837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dirty="0"/>
              <a:t>I </a:t>
            </a:r>
            <a:r>
              <a:rPr lang="pl-PL" sz="1400" dirty="0" err="1"/>
              <a:t>don’t</a:t>
            </a:r>
            <a:r>
              <a:rPr lang="pl-PL" sz="1400" dirty="0"/>
              <a:t> </a:t>
            </a:r>
            <a:r>
              <a:rPr lang="pl-PL" sz="1400" dirty="0" err="1"/>
              <a:t>know</a:t>
            </a:r>
            <a:r>
              <a:rPr lang="pl-PL" sz="1400" dirty="0"/>
              <a:t> </a:t>
            </a:r>
            <a:r>
              <a:rPr lang="pl-PL" sz="1400" dirty="0" err="1"/>
              <a:t>why</a:t>
            </a:r>
            <a:r>
              <a:rPr lang="pl-PL" sz="1400" dirty="0"/>
              <a:t> </a:t>
            </a:r>
            <a:r>
              <a:rPr lang="pl-PL" sz="1400" dirty="0" err="1"/>
              <a:t>it’s</a:t>
            </a:r>
            <a:r>
              <a:rPr lang="pl-PL" sz="1400" dirty="0"/>
              <a:t> </a:t>
            </a:r>
            <a:r>
              <a:rPr lang="pl-PL" sz="1400" dirty="0" err="1"/>
              <a:t>like</a:t>
            </a:r>
            <a:r>
              <a:rPr lang="pl-PL" sz="1400" dirty="0"/>
              <a:t> </a:t>
            </a:r>
            <a:r>
              <a:rPr lang="pl-PL" sz="1400" dirty="0" err="1"/>
              <a:t>that</a:t>
            </a:r>
            <a:r>
              <a:rPr lang="pl-PL" sz="1400" dirty="0"/>
              <a:t>. </a:t>
            </a:r>
            <a:br>
              <a:rPr lang="pl-PL" sz="1400" dirty="0"/>
            </a:br>
            <a:r>
              <a:rPr lang="pl-PL" sz="1400" dirty="0"/>
              <a:t>I </a:t>
            </a:r>
            <a:r>
              <a:rPr lang="pl-PL" sz="1400" dirty="0" err="1"/>
              <a:t>used</a:t>
            </a:r>
            <a:r>
              <a:rPr lang="pl-PL" sz="1400" dirty="0"/>
              <a:t> the same </a:t>
            </a:r>
            <a:r>
              <a:rPr lang="pl-PL" sz="1400" dirty="0" err="1"/>
              <a:t>core</a:t>
            </a:r>
            <a:r>
              <a:rPr lang="pl-PL" sz="1400" dirty="0"/>
              <a:t> </a:t>
            </a:r>
            <a:r>
              <a:rPr lang="pl-PL" sz="1400" dirty="0" err="1"/>
              <a:t>code</a:t>
            </a:r>
            <a:r>
              <a:rPr lang="pl-PL" sz="1400" dirty="0"/>
              <a:t> as in #1b.</a:t>
            </a:r>
          </a:p>
          <a:p>
            <a:r>
              <a:rPr lang="pl-PL" sz="1400" dirty="0" err="1"/>
              <a:t>Mayby</a:t>
            </a:r>
            <a:r>
              <a:rPr lang="pl-PL" sz="1400" dirty="0"/>
              <a:t> </a:t>
            </a:r>
            <a:r>
              <a:rPr lang="pl-PL" sz="1400" dirty="0" err="1"/>
              <a:t>it’s</a:t>
            </a:r>
            <a:r>
              <a:rPr lang="pl-PL" sz="1400" dirty="0"/>
              <a:t> </a:t>
            </a:r>
            <a:r>
              <a:rPr lang="pl-PL" sz="1400" dirty="0" err="1"/>
              <a:t>sth</a:t>
            </a:r>
            <a:r>
              <a:rPr lang="pl-PL" sz="1400" dirty="0"/>
              <a:t> with the </a:t>
            </a:r>
            <a:r>
              <a:rPr lang="pl-PL" sz="1400" dirty="0" err="1"/>
              <a:t>visualisation</a:t>
            </a:r>
            <a:r>
              <a:rPr lang="pl-PL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40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27FE3-A42F-4C31-E053-BE0FC1A5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D4ACA4C-1B8A-6C7C-98C0-C4F190250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5F7233D-D083-E8D7-E6AD-42146B5AD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606E98C-4BD5-BD2C-733E-9B0C71F10A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EE0E8F-CCF3-C73F-8659-17D3A40CD37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94045A1-4CF0-B747-EA9B-D85A8A247AD5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7DDDD98-6F49-A685-92E3-91D141C0789E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78F8E0-783C-4884-D492-94F6D424CBB2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0ECE3B-EEAD-A7FD-9EB6-A0DC8BA9A397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3FAC01D-0C57-C886-CFE5-51E1DC8F7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86011"/>
            <a:ext cx="5183712" cy="141658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585CC54C-1E57-DDC7-063A-2DB041B3D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270" y="1489221"/>
            <a:ext cx="5183712" cy="391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7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463A-FEB0-DAC2-C592-982AED78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D9825A0-3864-7B82-F4C0-6912BF1AE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Notebook section 3. Complete layout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DEB6AD1-A7A1-CBBC-33E2-C1A03F2E3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0F7002D-478B-4959-3169-5E518898EB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05F97E-3B7E-8203-F806-FFA5E41962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187553-D412-F56C-DD26-11B2C97C2B31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1: 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First, I set up the main layout and added the 5x10 mm die. I also created a custom cross-section with a 1.2 um width to make sure all parts fit together without any width errors.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2: 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Next, I put all the required devices into one single list. This list includes 9 straight waveguides and two of each component from the previous labs (MMIs, DCs, rings, and MZIs).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B67F4D-126C-4796-4E73-E68F0F3CB6B3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F5FE71-3005-DD28-5A06-1330678AD855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Complete </a:t>
            </a:r>
            <a:r>
              <a:rPr lang="es-ES" dirty="0" err="1"/>
              <a:t>layout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s-ES" dirty="0"/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5AABEC6-CFB0-6B44-B050-C82F92801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766827"/>
            <a:ext cx="4794662" cy="361950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55F1B17-C11A-69D4-46CA-7B197C484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15" y="1828800"/>
            <a:ext cx="4709568" cy="899238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8BAECA23-2DEA-72C1-0FB5-29BDFABF8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235" y="3767405"/>
            <a:ext cx="5139963" cy="186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1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E98D4-A7DA-30D2-9EA4-4CAFDB29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873E5B4-C752-A363-A049-1EE90EE349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Notebook section 3. Complete layout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77DC657-CB41-5069-80BD-4EF9A0D51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C4DFC6B-E481-950E-96FC-C59389BE86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441846-FC45-648D-B772-6FD71346160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3D653B-2520-7FA0-A328-3578BA37E2FD}"/>
              </a:ext>
            </a:extLst>
          </p:cNvPr>
          <p:cNvSpPr txBox="1"/>
          <p:nvPr/>
        </p:nvSpPr>
        <p:spPr>
          <a:xfrm>
            <a:off x="685799" y="990600"/>
            <a:ext cx="5794175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3: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Using a loop, I placed each component in the middle of the chip. To find the right connection points, I filtered the ports by their angle: 180 degrees for the left input and 0 degrees for the right output.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4: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Finally, I placed short straight waveguides on the left and right edges of the chip to act as I/O ports. I connected them to the main components using the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route_single_sbend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function.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1C7D9F-1EBD-D25E-1535-30C8DB3C1D67}"/>
              </a:ext>
            </a:extLst>
          </p:cNvPr>
          <p:cNvSpPr/>
          <p:nvPr/>
        </p:nvSpPr>
        <p:spPr>
          <a:xfrm>
            <a:off x="6629400" y="990285"/>
            <a:ext cx="5257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A6B356-9982-96D8-ED24-A6B25C68C98C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Complete </a:t>
            </a:r>
            <a:r>
              <a:rPr lang="es-ES" dirty="0" err="1"/>
              <a:t>layout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s-ES" dirty="0"/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757C39F-6E5F-4248-F5F2-354DA78A6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968" y="1771335"/>
            <a:ext cx="4794662" cy="36195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7B956A7-ACB3-783F-F073-D3A3F6BA5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271" y="2927936"/>
            <a:ext cx="5553285" cy="133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3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87F0-CB2C-2FE5-5614-A0F16A62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1 slide per bullet point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fo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pl-PL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a) Creating components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 unbalanced MZI, using 2x2 50:50 MMIs with arm length difference as parameter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arms have thermal tuners on top of each one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an all-pass ring resonator, using 2x2 50:50 MMIs, with extra length parameter for different perimeters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ring has a thermal tuner on top along all the perimeter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existing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spiral components, with length as parameter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die  W = 5 mm x L = 10 mm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an array of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spaced at 250 µm (as much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 the width allows)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of this die, with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accessible to connect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c)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Floorplaning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and die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Make an instance of the die as host component for your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3 sets of 3 straight waveguides, from left to right of the die, top, middle and bottom of the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2 of each of the components above, with different lengths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Connect all your components to the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52515D-9AC0-62DB-2A62-0C197A32C5E7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009F3CB-F6E0-2AD7-341F-95A3BFD57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84" y="1524000"/>
            <a:ext cx="5346631" cy="452448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058971B-7621-8762-39EF-C0F34920C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015" y="1360616"/>
            <a:ext cx="5602184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38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4878-7212-E070-9C3A-9BAC1926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081A0E0-FE96-A26E-CBB0-3F612F2D8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1 slide per bullet point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03062D7-3029-2613-7473-989572032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071A154-036E-46A2-B549-1A105491B6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100D0B-A3C0-41FD-0D66-F18B397933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A4DBA2-9880-74BA-7BF2-83795686C16F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a) Creating components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 unbalanced MZI, using 2x2 50:50 MMIs with arm length difference as parameter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arms have thermal tuners on top of each one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an all-pass ring resonator, using 2x2 50:50 MMIs, with extra length parameter for different perimeters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ring has a thermal tuner on top along all the perimeter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existing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spiral components, with length as parameter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die  W = 5 mm x L = 10 mm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an array of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spaced at 250 µm (as much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 the width allows)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of this die, with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accessible to connect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c)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Floorplaning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and die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Make an instance of the die as host component for your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3 sets of 3 straight waveguides, from left to right of the die, top, middle and bottom of the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2 of each of the components above, with different lengths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Connect all your components to the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2DCABD-75FA-D56A-9D53-268D82741266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3062C1-865C-D0FA-0A37-CC41A421DBCA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02B9289-F5A1-2F8B-42B8-973362720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83" y="1524000"/>
            <a:ext cx="5234234" cy="256046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1D8A384-D310-0D75-66FA-91A4E53EE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30" y="1377237"/>
            <a:ext cx="5355780" cy="404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6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AABFD-D939-6753-B609-84E0EC7F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3A85497-CCDF-4270-0436-9537B0F55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1 slide per bullet point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8B840A2-E92A-CB81-6381-55599B2BB9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9ECB8B24-C6B1-7E6C-304F-D4C9E6E981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FDBAB8-CF5D-094E-CC0F-878FEDB698E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282836-549B-7E32-C0BA-05C4BE7DBD99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fo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pl-PL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a) Creating components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 unbalanced MZI, using 2x2 50:50 MMIs with arm length difference as parameter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arms have thermal tuners on top of each one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an all-pass ring resonator, using 2x2 50:50 MMIs, with extra length parameter for different perimeters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ring has a thermal tuner on top along all the perimeter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existing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spiral components, with length as parameter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die  W = 5 mm x L = 10 mm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an array of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spaced at 250 µm (as much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 the width allows)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of this die, with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accessible to connect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c)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Floorplaning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and die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Make an instance of the die as host component for your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3 sets of 3 straight waveguides, from left to right of the die, top, middle and bottom of the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2 of each of the components above, with different lengths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Connect all your components to the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1DAD81-05E1-EA50-4221-FC50F4E2C1C7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AE491B-6044-9C32-8ABE-EB2F63C220DA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E2A38E1-2C5B-1E79-16A8-C53E55FB9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24000"/>
            <a:ext cx="5181600" cy="292077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1A18CD8-93B8-F14C-E3C8-B060C0BDD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652" y="1063293"/>
            <a:ext cx="5464106" cy="412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54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2429</TotalTime>
  <Words>2121</Words>
  <Application>Microsoft Office PowerPoint</Application>
  <PresentationFormat>Panoramiczny</PresentationFormat>
  <Paragraphs>197</Paragraphs>
  <Slides>18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Lucida Sans</vt:lpstr>
      <vt:lpstr>Wingdings</vt:lpstr>
      <vt:lpstr>Office Theme</vt:lpstr>
      <vt:lpstr>Prezentacja programu PowerPoint</vt:lpstr>
      <vt:lpstr>Instructions General</vt:lpstr>
      <vt:lpstr>Learning outcome #1a – Notebook section 1. Technology “We will work with the demo UPVfab PDK. Let's view the layer distribution of this PDK”</vt:lpstr>
      <vt:lpstr>Learning outcome #1b – Notebook section 1. Technology – 1 slide per component “Use your design results from Lab2 and Lab3 to create layout instances of your designed components: DCs, MMIs, MZIs &amp; Ring Resonators”</vt:lpstr>
      <vt:lpstr>Learning outcome #1b – Notebook section 1. Technology – 1 slide per component “Use your design results from Lab2 and Lab3 to create layout instances of your designed components: DCs, MMIs, MZIs &amp; Ring Resonators”</vt:lpstr>
      <vt:lpstr>Learning outcome #1b – Notebook section 1. Technology – 1 slide per component “Use your design results from Lab2 and Lab3 to create layout instances of your designed components: DCs, MMIs, MZIs &amp; Ring Resonators”</vt:lpstr>
      <vt:lpstr>Learning outcome #1b – Notebook section 1. Technology – 1 slide per component “Use your design results from Lab2 and Lab3 to create layout instances of your designed components: DCs, MMIs, MZIs &amp; Ring Resonators”</vt:lpstr>
      <vt:lpstr>Learning outcome #2a – Notebook section 2. Layout Fundamentals “Once that we have a working 'new' component, we shall convert it into a Cell. This will allow us to have a hierarchical design”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#3 – Notebook section 3. Complete layout</vt:lpstr>
      <vt:lpstr>Learning outcome #3 – Notebook section 3. Complete layout</vt:lpstr>
      <vt:lpstr>Learning outcome #4 – Notebook section 4. Exercises – 1 slide per bullet point</vt:lpstr>
      <vt:lpstr>Learning outcome #4 – Notebook section 4. Exercises – 1 slide per bullet point</vt:lpstr>
      <vt:lpstr>Learning outcome #4 – Notebook section 4. Exercises – 1 slide per bullet 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Antoni Piałucha (275411)</cp:lastModifiedBy>
  <cp:revision>29</cp:revision>
  <dcterms:created xsi:type="dcterms:W3CDTF">2025-01-27T02:46:57Z</dcterms:created>
  <dcterms:modified xsi:type="dcterms:W3CDTF">2026-05-30T09:52:49Z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